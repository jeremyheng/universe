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problem: document generation works well once templates are configured, but configuring them is hard, slow and depends on a few specialists. The deck follows the storyline map: what we have, why it matters, where we are going and how we will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agenda. The five questions are the storyline. The six lenses from the product innovation framework sit inside them: product innovation, business scenarios and use cases, business impact, business value and benefits, roadmap and prioritisation, and success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 Gen is the foundation of credit document automation and it works well at run time. The problem is design time: data mapping and template setup are where configurers struggle. Everything we propose targets those two steps, not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recurring pain points from customer feedback. Each has its own slide next, with the actual system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 is a .NET exception surfaced straight to the user. It does not say which tag, which page or what to change, so users raise a ticket or try things by trial and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tag tree has no search, so locating a tag depends on knowing which folder it sits in. This is the biggest time sink for new configurers.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every tag, users switch to a separate Excel FSD to see which screen and field it maps to and what condition applies. The constant switching is slow and error-prone, and the FSD can drift from what 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reverse lookup from a tag to the templates that use it. Impact analysis for a change request is manual, slow and risky. Add a real user quote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destination. Each row pairs one of today’s pain points with the future-state experience and the business impact it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Solutions 1 to 4 each fix one pain point directly. Solution 5 builds on them to automate template creation, and includes a preview of the generated template with sample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technical exceptions into a catalogue of plain-language messages, each with what happened, where (page and tag) and how to fix it, plus a jump-to-location button. The raw exception is still logged for IT. The example cause is illustrative; confirm the real causes of the StartIndex error with the Doc Gen engine team. Start with the top 10 errors by ticket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search box at the top of the DocGen Editor panel. Typing part of a name, with optional wildcards, filters the whole tree and shows each match with its full path, so users no longer need to know which folder a tag sits in. Tag names are taken from the current tag tree; paths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tag in the tree gets an info icon. Clicking it shows the tag’s dictionary entry: type, category, screen path, field, condition logic and the products it applies to, from the same data as the master FSD. The “Used in n templates” link connects to Solution 4. Maintain the dictionary as structured data, ideally generated from the FSD or system configuration, so it stays in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reverse index from tag to template. Every time a template is uploaded to the Doc Gen console its tags are extracted and indexed. Searching a tag lists every template that uses it, how many times, and its status, and the list exports as the impact list for a change request. Template names and counts are sample data, except the first, taken from the current-system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 drags in a sample document, for example a finished offer letter, and describes it in a prompt. The AI detects the variable text, matches each item to a Doc Gen tag using the tag dictionary from Solution 3, adds loops and conditions, validates the result, and renders a preview with sample values. It returns two files: the raw template as a .zip, ready to upload to the Doc Gen console, and a summary report PDF with the same layout as the template, where hovering over a tag shows its screen mapping. A human always reviews before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summary report is a PDF with the same layout as the raw template. Every Doc Gen tag is highlighted, and hovering over a tag shows its screen mapping, field and logic, so testers and approvers can read the template without the FSD. Right: the preview shows the generated template filled in with sample values, so the configurer can check the result before uploading the .zip. Tag names are from the current system; values are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each solution brings, mapped to the business value lenses. Baselines for tickets, configuration time and mapping defects can be measured before Phase 1 to quantify these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delivers visible relief quickly with contained UI changes. Phase 2 builds the data foundation: the tag dictionary as structured data and an index of tags per template. Phase 3 uses that foundation for the AI template builder, with a sample-value preview of each generated template, piloted on one template family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Relationship Id="rId4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30.png"/><Relationship Id="rId4" Type="http://schemas.openxmlformats.org/officeDocument/2006/relationships/image" Target="../media/image47.png"/><Relationship Id="rId5" Type="http://schemas.openxmlformats.org/officeDocument/2006/relationships/image" Target="../media/image37.png"/><Relationship Id="rId6" Type="http://schemas.openxmlformats.org/officeDocument/2006/relationships/image" Target="../media/image4.png"/><Relationship Id="rId7" Type="http://schemas.openxmlformats.org/officeDocument/2006/relationships/image" Target="../media/image23.png"/><Relationship Id="rId8" Type="http://schemas.openxmlformats.org/officeDocument/2006/relationships/image" Target="../media/image4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2.png"/><Relationship Id="rId6" Type="http://schemas.openxmlformats.org/officeDocument/2006/relationships/image" Target="../media/image49.png"/><Relationship Id="rId7" Type="http://schemas.openxmlformats.org/officeDocument/2006/relationships/image" Target="../media/image17.png"/><Relationship Id="rId8" Type="http://schemas.openxmlformats.org/officeDocument/2006/relationships/image" Target="../media/image8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3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37.png"/><Relationship Id="rId8" Type="http://schemas.openxmlformats.org/officeDocument/2006/relationships/image" Target="../media/image3.png"/><Relationship Id="rId9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58.png"/><Relationship Id="rId9" Type="http://schemas.openxmlformats.org/officeDocument/2006/relationships/image" Target="../media/image35.png"/><Relationship Id="rId10" Type="http://schemas.openxmlformats.org/officeDocument/2006/relationships/image" Target="../media/image54.png"/><Relationship Id="rId11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66.png"/><Relationship Id="rId8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7.png"/><Relationship Id="rId5" Type="http://schemas.openxmlformats.org/officeDocument/2006/relationships/image" Target="../media/image3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63.png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B3262E"/>
                </a:solidFill>
                <a:latin typeface="Calibri"/>
              </a:rPr>
              <a:t>LOAN ORIGINATION SYSTEM · PRODUCT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E2A2B"/>
                </a:solidFill>
                <a:latin typeface="Calibri"/>
              </a:rPr>
              <a:t>Making Doc Gen template configuration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95354"/>
                </a:solidFill>
                <a:latin typeface="Calibri"/>
              </a:rPr>
              <a:t>Five solutions to turn a specialist-only task into a self-service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586"/>
                </a:solidFill>
                <a:latin typeface="Calibri"/>
              </a:rPr>
              <a:t>[Presenter name] · [Team] · [Date]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48640"/>
            <a:ext cx="4325112" cy="5760720"/>
          </a:xfrm>
          <a:prstGeom prst="roundRect">
            <a:avLst>
              <a:gd name="adj" fmla="val 5285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66760" y="2240280"/>
            <a:ext cx="2194560" cy="2194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8" name="Picture 7" descr="fil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880360"/>
            <a:ext cx="914400" cy="9144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818120" y="1051560"/>
            <a:ext cx="960120" cy="9601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0" name="Picture 9" descr="search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1291589"/>
            <a:ext cx="480060" cy="4800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195560" y="1325880"/>
            <a:ext cx="960120" cy="9601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2" name="Picture 11" descr="inf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590" y="1565910"/>
            <a:ext cx="480060" cy="4800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863840" y="4754880"/>
            <a:ext cx="960120" cy="9601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aler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869" y="4994910"/>
            <a:ext cx="480060" cy="48006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149840" y="4572000"/>
            <a:ext cx="960120" cy="960120"/>
          </a:xfrm>
          <a:prstGeom prst="ellipse">
            <a:avLst/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9869" y="4812030"/>
            <a:ext cx="48006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THE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Five questions, six lenses, one story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148840"/>
            <a:ext cx="9052560" cy="0"/>
          </a:xfrm>
          <a:prstGeom prst="line">
            <a:avLst/>
          </a:prstGeom>
          <a:ln w="25400">
            <a:solidFill>
              <a:srgbClr val="F5C6C9"/>
            </a:solidFill>
            <a:prstDash val="dash"/>
          </a:ln>
        </p:spPr>
      </p:cxnSp>
      <p:sp>
        <p:nvSpPr>
          <p:cNvPr id="7" name="Oval 6"/>
          <p:cNvSpPr/>
          <p:nvPr/>
        </p:nvSpPr>
        <p:spPr>
          <a:xfrm>
            <a:off x="1028700" y="1600200"/>
            <a:ext cx="1097280" cy="10972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8" name="Picture 7" descr="bulb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874519"/>
            <a:ext cx="548640" cy="5486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851660" y="1554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5166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3262E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2A2B"/>
                </a:solidFill>
                <a:latin typeface="Calibri"/>
              </a:rPr>
              <a:t>What we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5354"/>
                </a:solidFill>
                <a:latin typeface="Calibri"/>
              </a:rPr>
              <a:t>What is our Doc Gen capability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8C8586"/>
                </a:solidFill>
                <a:latin typeface="Calibri"/>
              </a:rPr>
              <a:t>LENS</a:t>
            </a:r>
          </a:p>
          <a:p>
            <a:pPr algn="ctr"/>
            <a:r>
              <a:rPr sz="1300" b="1" i="0">
                <a:solidFill>
                  <a:srgbClr val="8F1D24"/>
                </a:solidFill>
                <a:latin typeface="Calibri"/>
              </a:rPr>
              <a:t>Product innovation</a:t>
            </a:r>
          </a:p>
        </p:txBody>
      </p:sp>
      <p:sp>
        <p:nvSpPr>
          <p:cNvPr id="15" name="Oval 14"/>
          <p:cNvSpPr/>
          <p:nvPr/>
        </p:nvSpPr>
        <p:spPr>
          <a:xfrm>
            <a:off x="3287268" y="1600200"/>
            <a:ext cx="1097280" cy="10972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users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88" y="1874519"/>
            <a:ext cx="548640" cy="5486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110228" y="1554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10228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326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2A2B"/>
                </a:solidFill>
                <a:latin typeface="Calibri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29184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5354"/>
                </a:solidFill>
                <a:latin typeface="Calibri"/>
              </a:rPr>
              <a:t>Why is template setup painful for users and the business?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7208" y="44348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44368" y="452628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8C8586"/>
                </a:solidFill>
                <a:latin typeface="Calibri"/>
              </a:rPr>
              <a:t>LENS</a:t>
            </a:r>
          </a:p>
          <a:p>
            <a:pPr algn="ctr"/>
            <a:r>
              <a:rPr sz="1300" b="1" i="0">
                <a:solidFill>
                  <a:srgbClr val="8F1D24"/>
                </a:solidFill>
                <a:latin typeface="Calibri"/>
              </a:rPr>
              <a:t>Business scenarios &amp; use cases</a:t>
            </a:r>
          </a:p>
        </p:txBody>
      </p:sp>
      <p:sp>
        <p:nvSpPr>
          <p:cNvPr id="23" name="Oval 22"/>
          <p:cNvSpPr/>
          <p:nvPr/>
        </p:nvSpPr>
        <p:spPr>
          <a:xfrm>
            <a:off x="5545836" y="1600200"/>
            <a:ext cx="1097280" cy="10972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4" name="Picture 23" descr="ma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1874519"/>
            <a:ext cx="548640" cy="54864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368796" y="1554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68796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3262E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4336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2A2B"/>
                </a:solidFill>
                <a:latin typeface="Calibri"/>
              </a:rPr>
              <a:t>Where we are going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329184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5354"/>
                </a:solidFill>
                <a:latin typeface="Calibri"/>
              </a:rPr>
              <a:t>What does effortless configuration look like?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44348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02936" y="452628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8C8586"/>
                </a:solidFill>
                <a:latin typeface="Calibri"/>
              </a:rPr>
              <a:t>LENS</a:t>
            </a:r>
          </a:p>
          <a:p>
            <a:pPr algn="ctr"/>
            <a:r>
              <a:rPr sz="1300" b="1" i="0">
                <a:solidFill>
                  <a:srgbClr val="8F1D24"/>
                </a:solidFill>
                <a:latin typeface="Calibri"/>
              </a:rPr>
              <a:t>Business impact</a:t>
            </a:r>
          </a:p>
        </p:txBody>
      </p:sp>
      <p:sp>
        <p:nvSpPr>
          <p:cNvPr id="31" name="Oval 30"/>
          <p:cNvSpPr/>
          <p:nvPr/>
        </p:nvSpPr>
        <p:spPr>
          <a:xfrm>
            <a:off x="7804404" y="1600200"/>
            <a:ext cx="1097280" cy="10972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tool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1874519"/>
            <a:ext cx="548640" cy="54864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8627364" y="1554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27364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3262E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2A2B"/>
                </a:solidFill>
                <a:latin typeface="Calibri"/>
              </a:rPr>
              <a:t>How we will get there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064" y="329184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5354"/>
                </a:solidFill>
                <a:latin typeface="Calibri"/>
              </a:rPr>
              <a:t>Which solutions, in which order?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24344" y="44348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61504" y="452628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8C8586"/>
                </a:solidFill>
                <a:latin typeface="Calibri"/>
              </a:rPr>
              <a:t>LENS</a:t>
            </a:r>
          </a:p>
          <a:p>
            <a:pPr algn="ctr"/>
            <a:r>
              <a:rPr sz="1300" b="1" i="0">
                <a:solidFill>
                  <a:srgbClr val="8F1D24"/>
                </a:solidFill>
                <a:latin typeface="Calibri"/>
              </a:rPr>
              <a:t>Value &amp; benefits · Roadmap &amp; prioritisation</a:t>
            </a:r>
          </a:p>
        </p:txBody>
      </p:sp>
      <p:sp>
        <p:nvSpPr>
          <p:cNvPr id="39" name="Oval 38"/>
          <p:cNvSpPr/>
          <p:nvPr/>
        </p:nvSpPr>
        <p:spPr>
          <a:xfrm>
            <a:off x="10062972" y="1600200"/>
            <a:ext cx="1097280" cy="1097280"/>
          </a:xfrm>
          <a:prstGeom prst="ellipse">
            <a:avLst/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40" name="Picture 39" descr="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1874519"/>
            <a:ext cx="548640" cy="54864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10885932" y="1554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885932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3262E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2A2B"/>
                </a:solidFill>
                <a:latin typeface="Calibri"/>
              </a:rPr>
              <a:t>What success looks like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8632" y="329184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5354"/>
                </a:solidFill>
                <a:latin typeface="Calibri"/>
              </a:rPr>
              <a:t>How will we know it worked?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82912" y="44348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20072" y="452628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8C8586"/>
                </a:solidFill>
                <a:latin typeface="Calibri"/>
              </a:rPr>
              <a:t>LENS</a:t>
            </a:r>
          </a:p>
          <a:p>
            <a:pPr algn="ctr"/>
            <a:r>
              <a:rPr sz="1300" b="1" i="0">
                <a:solidFill>
                  <a:srgbClr val="8F1D24"/>
                </a:solidFill>
                <a:latin typeface="Calibri"/>
              </a:rPr>
              <a:t>Success metrics &amp;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B3262E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2A2B"/>
                </a:solidFill>
                <a:latin typeface="Calibri"/>
              </a:rPr>
              <a:t>What we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95354"/>
                </a:solidFill>
                <a:latin typeface="Calibri"/>
              </a:rPr>
              <a:t>What is our Doc Gen capability today, and where does the effort sit?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6" name="Picture 5" descr="layer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0118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47548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4"/>
                </a:solidFill>
                <a:latin typeface="Calibri"/>
              </a:rPr>
              <a:t>Lens · Product innovation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645920"/>
            <a:ext cx="3474720" cy="3474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bulb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514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01 · WHAT WE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Doc Gen runs well, but setting it up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5354"/>
                </a:solidFill>
                <a:latin typeface="Calibri"/>
              </a:rPr>
              <a:t>Doc Gen turns application data into ready-to-use credit documents such as offer letters, agreements and forms.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0240"/>
            <a:ext cx="731520" cy="731520"/>
          </a:xfrm>
          <a:prstGeom prst="ellipse">
            <a:avLst/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8" name="Picture 7" descr="lin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19" y="19476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Data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240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Map data to document tags</a:t>
            </a:r>
          </a:p>
        </p:txBody>
      </p:sp>
      <p:pic>
        <p:nvPicPr>
          <p:cNvPr id="11" name="Picture 10" descr="arrow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167128"/>
            <a:ext cx="237744" cy="23774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383280" y="1920240"/>
            <a:ext cx="731520" cy="731520"/>
          </a:xfrm>
          <a:prstGeom prst="ellipse">
            <a:avLst/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13" name="Picture 12" descr="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10312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51960" y="19476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Template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240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Build and manage templates</a:t>
            </a:r>
          </a:p>
        </p:txBody>
      </p:sp>
      <p:pic>
        <p:nvPicPr>
          <p:cNvPr id="16" name="Picture 15" descr="arrow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67128"/>
            <a:ext cx="237744" cy="237744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217920" y="1920240"/>
            <a:ext cx="731520" cy="73152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8" name="Picture 17" descr="cpu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0312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19476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Doc Gen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240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Compose and render documents</a:t>
            </a:r>
          </a:p>
        </p:txBody>
      </p:sp>
      <p:pic>
        <p:nvPicPr>
          <p:cNvPr id="21" name="Picture 20" descr="arrow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2167128"/>
            <a:ext cx="237744" cy="237744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052560" y="1920240"/>
            <a:ext cx="731520" cy="73152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3" name="Picture 22" descr="fi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10312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21240" y="19476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Credit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40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Offer letters, agreements, 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26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B3262E"/>
                </a:solidFill>
                <a:latin typeface="Calibri"/>
              </a:rPr>
              <a:t>DESIGN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8C8586"/>
                </a:solidFill>
                <a:latin typeface="Calibri"/>
              </a:rPr>
              <a:t>RUN 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246120"/>
            <a:ext cx="5394960" cy="0"/>
          </a:xfrm>
          <a:prstGeom prst="line">
            <a:avLst/>
          </a:prstGeom>
          <a:ln w="19050">
            <a:solidFill>
              <a:srgbClr val="B3262E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6263640" y="3246120"/>
            <a:ext cx="5376672" cy="0"/>
          </a:xfrm>
          <a:prstGeom prst="line">
            <a:avLst/>
          </a:prstGeom>
          <a:ln w="19050">
            <a:solidFill>
              <a:srgbClr val="D9D2D3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548640" y="3474720"/>
            <a:ext cx="5440680" cy="2697480"/>
          </a:xfrm>
          <a:prstGeom prst="roundRect">
            <a:avLst>
              <a:gd name="adj" fmla="val 4067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199632" y="3474720"/>
            <a:ext cx="5440680" cy="2697480"/>
          </a:xfrm>
          <a:prstGeom prst="roundRect">
            <a:avLst>
              <a:gd name="adj" fmla="val 4067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aler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675887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8872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8F1D24"/>
                </a:solidFill>
                <a:latin typeface="Calibri"/>
              </a:rPr>
              <a:t>The pain sits here</a:t>
            </a:r>
          </a:p>
        </p:txBody>
      </p:sp>
      <p:pic>
        <p:nvPicPr>
          <p:cNvPr id="34" name="Picture 33" descr="check_m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675887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9712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2A2B"/>
                </a:solidFill>
                <a:latin typeface="Calibri"/>
              </a:rPr>
              <a:t>Already delivering</a:t>
            </a:r>
          </a:p>
        </p:txBody>
      </p:sp>
      <p:pic>
        <p:nvPicPr>
          <p:cNvPr id="36" name="Picture 35" descr="tree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224528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88720" y="41879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Hundreds of tags in a deep tree, hard to find</a:t>
            </a:r>
          </a:p>
        </p:txBody>
      </p:sp>
      <p:pic>
        <p:nvPicPr>
          <p:cNvPr id="38" name="Picture 37" descr="layers_m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4224528"/>
            <a:ext cx="219456" cy="21945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9712" y="41879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Single source of truth for documents</a:t>
            </a:r>
          </a:p>
        </p:txBody>
      </p:sp>
      <p:pic>
        <p:nvPicPr>
          <p:cNvPr id="40" name="Picture 39" descr="book_r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681728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8720" y="46451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Field mapping and logic live in a separate FSD</a:t>
            </a:r>
          </a:p>
        </p:txBody>
      </p:sp>
      <p:pic>
        <p:nvPicPr>
          <p:cNvPr id="42" name="Picture 41" descr="shield_mu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952" y="4681728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39712" y="46451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Approved templates support compliance</a:t>
            </a:r>
          </a:p>
        </p:txBody>
      </p:sp>
      <p:pic>
        <p:nvPicPr>
          <p:cNvPr id="44" name="Picture 43" descr="x_r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60" y="5138928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88720" y="51023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Save errors are technical and cryptic</a:t>
            </a:r>
          </a:p>
        </p:txBody>
      </p:sp>
      <p:pic>
        <p:nvPicPr>
          <p:cNvPr id="46" name="Picture 45" descr="zap_mu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3952" y="5138928"/>
            <a:ext cx="219456" cy="21945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39712" y="51023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Faster turnaround, less manual effort</a:t>
            </a:r>
          </a:p>
        </p:txBody>
      </p:sp>
      <p:pic>
        <p:nvPicPr>
          <p:cNvPr id="48" name="Picture 47" descr="help_r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" y="5596128"/>
            <a:ext cx="219456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55595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No view of which templates use a tag</a:t>
            </a:r>
          </a:p>
        </p:txBody>
      </p:sp>
      <p:pic>
        <p:nvPicPr>
          <p:cNvPr id="50" name="Picture 49" descr="trend_mu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3952" y="5596128"/>
            <a:ext cx="219456" cy="2194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39712" y="55595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Scales with business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B3262E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2A2B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95354"/>
                </a:solidFill>
                <a:latin typeface="Calibri"/>
              </a:rPr>
              <a:t>What do configurers struggle with, in real day-to-day scenarios?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6" name="Picture 5" descr="layer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0118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47548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4"/>
                </a:solidFill>
                <a:latin typeface="Calibri"/>
              </a:rPr>
              <a:t>Lens · Business scenarios &amp; use cases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645920"/>
            <a:ext cx="3474720" cy="3474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users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514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02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Four pain points we hear from configurers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8" name="Picture 7" descr="perso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0666"/>
            <a:ext cx="1554480" cy="14193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34640" y="1828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PAIN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488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2A2B"/>
                </a:solidFill>
                <a:latin typeface="Calibri"/>
              </a:rPr>
              <a:t>Cryptic error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Save fails with system errors users cannot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person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017" y="1783080"/>
            <a:ext cx="1184365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03920" y="1828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PAIN POINT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2A2B"/>
                </a:solidFill>
                <a:latin typeface="Calibri"/>
              </a:rPr>
              <a:t>Tags are hard to 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Manual scrolling through a deep tag 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0" name="Picture 19" descr="person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" y="4206240"/>
            <a:ext cx="1036320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34640" y="4251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PAIN POINT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2A2B"/>
                </a:solidFill>
                <a:latin typeface="Calibri"/>
              </a:rPr>
              <a:t>Mapping lives elsewhere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292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Opening the master FSD to check every tag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6" name="Picture 25" descr="personT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323" y="4206240"/>
            <a:ext cx="1195753" cy="1554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03920" y="4251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PAIN POINT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2A2B"/>
                </a:solidFill>
                <a:latin typeface="Calibri"/>
              </a:rPr>
              <a:t>No view of tag 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292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Unknown which templates a tag change affects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PAIN POINT 1 · CUSTOMER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Users can’t act on technical error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5128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7" name="Picture 6" descr="perso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5" y="1691640"/>
            <a:ext cx="2203268" cy="2011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931920"/>
            <a:ext cx="3108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2E2A2B"/>
                </a:solidFill>
                <a:latin typeface="Calibri"/>
              </a:rPr>
              <a:t>“I clicked Save Template, but it failed with this error. I do not understand what StartIndex cannot be less than zero means or how to fix it.”</a:t>
            </a:r>
          </a:p>
        </p:txBody>
      </p:sp>
      <p:pic>
        <p:nvPicPr>
          <p:cNvPr id="10" name="Picture 9" descr="monitor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90472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744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CURRENT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7205472" cy="384048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13" name="Picture 12" descr="shot-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309" y="1874519"/>
            <a:ext cx="6454532" cy="3749040"/>
          </a:xfrm>
          <a:prstGeom prst="rect">
            <a:avLst/>
          </a:prstGeom>
        </p:spPr>
      </p:pic>
      <p:pic>
        <p:nvPicPr>
          <p:cNvPr id="14" name="Picture 13" descr="x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82472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3168" y="58064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Save Template fails with a raw system exception: no cause, no location, no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PAIN POINT 2 · CUSTOMER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Finding a tag means scrolling a deep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5128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7" name="Picture 6" descr="perso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65" y="1691640"/>
            <a:ext cx="1532708" cy="2011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931920"/>
            <a:ext cx="3108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2E2A2B"/>
                </a:solidFill>
                <a:latin typeface="Calibri"/>
              </a:rPr>
              <a:t>“HeB, I’m unable to search for the XXX doc gen tags.”</a:t>
            </a:r>
          </a:p>
        </p:txBody>
      </p:sp>
      <p:pic>
        <p:nvPicPr>
          <p:cNvPr id="10" name="Picture 9" descr="monitor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90472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744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CURRENT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246120" cy="434340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13" name="Picture 12" descr="shot-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644" y="1874519"/>
            <a:ext cx="3030511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2A2B"/>
                </a:solidFill>
                <a:latin typeface="Calibri"/>
              </a:rPr>
              <a:t>What goes wrong today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242316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tre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537460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2423160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Tags sit 4–6 levels deep under folders like APP › FAC › FAC_HT</a:t>
            </a:r>
          </a:p>
        </p:txBody>
      </p:sp>
      <p:sp>
        <p:nvSpPr>
          <p:cNvPr id="18" name="Oval 17"/>
          <p:cNvSpPr/>
          <p:nvPr/>
        </p:nvSpPr>
        <p:spPr>
          <a:xfrm>
            <a:off x="8001000" y="333756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9" name="Picture 18" descr="search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345186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0" y="3337560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No search box: users expand folders one by one</a:t>
            </a:r>
          </a:p>
        </p:txBody>
      </p:sp>
      <p:sp>
        <p:nvSpPr>
          <p:cNvPr id="21" name="Oval 20"/>
          <p:cNvSpPr/>
          <p:nvPr/>
        </p:nvSpPr>
        <p:spPr>
          <a:xfrm>
            <a:off x="8001000" y="425196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2" name="Picture 21" descr="map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0" y="4366260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95360" y="4251960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Users must already know which folder a tag lives in</a:t>
            </a:r>
          </a:p>
        </p:txBody>
      </p:sp>
      <p:sp>
        <p:nvSpPr>
          <p:cNvPr id="24" name="Oval 23"/>
          <p:cNvSpPr/>
          <p:nvPr/>
        </p:nvSpPr>
        <p:spPr>
          <a:xfrm>
            <a:off x="8001000" y="516636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5" name="Picture 24" descr="users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5280660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95360" y="5166360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New configurers depend on senior staff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PAIN POINT 3 · CUSTOMER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Every mapping check means opening the FSD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5128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7" name="Picture 6" descr="person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1691640"/>
            <a:ext cx="1341120" cy="2011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931920"/>
            <a:ext cx="3108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2E2A2B"/>
                </a:solidFill>
                <a:latin typeface="Calibri"/>
              </a:rPr>
              <a:t>“Aiya, need to open the master FSD to check the mapping again.”</a:t>
            </a:r>
          </a:p>
        </p:txBody>
      </p:sp>
      <p:pic>
        <p:nvPicPr>
          <p:cNvPr id="10" name="Picture 9" descr="monitor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90472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744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CURRENT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7205472" cy="3520440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13" name="Picture 12" descr="shot-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06" y="1874520"/>
            <a:ext cx="7100539" cy="342899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34840" y="548640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15" name="Picture 14" descr="boo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68756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83479" y="548640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Left: the FSD holds condition, screen and 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548640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18" name="Picture 17" descr="tre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5687568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68512" y="548640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Right: the editor shows only the tag 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PAIN POINT 4 · CUSTOMER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No one can see which templates use a tag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5128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7" name="Picture 6" descr="person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96" y="1691640"/>
            <a:ext cx="1547446" cy="2011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931920"/>
            <a:ext cx="3108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2E2A2B"/>
                </a:solidFill>
                <a:latin typeface="Calibri"/>
              </a:rPr>
              <a:t>“[Add user quote]”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7205472" cy="1097280"/>
          </a:xfrm>
          <a:prstGeom prst="roundRect">
            <a:avLst>
              <a:gd name="adj" fmla="val 100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2" name="Picture 11" descr="clipboar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189738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800" y="1572768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SCENARIO</a:t>
            </a:r>
          </a:p>
          <a:p>
            <a:pPr algn="l"/>
            <a:r>
              <a:rPr sz="1500" b="0" i="0">
                <a:solidFill>
                  <a:srgbClr val="2E2A2B"/>
                </a:solidFill>
                <a:latin typeface="Calibri"/>
              </a:rPr>
              <a:t>A change request updates the logic behind [Installment]. Which offer letters and agreements must be updated and re-tested?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703320"/>
            <a:ext cx="2103120" cy="594360"/>
          </a:xfrm>
          <a:prstGeom prst="roundRect">
            <a:avLst>
              <a:gd name="adj" fmla="val 23076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4880" y="370332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[Installment]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858000" y="3090672"/>
            <a:ext cx="1463040" cy="909828"/>
          </a:xfrm>
          <a:prstGeom prst="line">
            <a:avLst/>
          </a:prstGeom>
          <a:ln w="19050">
            <a:solidFill>
              <a:srgbClr val="C9BFC0"/>
            </a:solidFill>
            <a:prstDash val="dash"/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8321040" y="2788920"/>
            <a:ext cx="3017520" cy="603504"/>
          </a:xfrm>
          <a:prstGeom prst="roundRect">
            <a:avLst>
              <a:gd name="adj" fmla="val 18181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03920" y="27889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Offer letter</a:t>
            </a:r>
          </a:p>
        </p:txBody>
      </p:sp>
      <p:pic>
        <p:nvPicPr>
          <p:cNvPr id="19" name="Picture 18" descr="hel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953512"/>
            <a:ext cx="274320" cy="274320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6858000" y="4000500"/>
            <a:ext cx="1463040" cy="4572"/>
          </a:xfrm>
          <a:prstGeom prst="line">
            <a:avLst/>
          </a:prstGeom>
          <a:ln w="19050">
            <a:solidFill>
              <a:srgbClr val="C9BFC0"/>
            </a:solidFill>
            <a:prstDash val="dash"/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8321040" y="3703320"/>
            <a:ext cx="3017520" cy="603504"/>
          </a:xfrm>
          <a:prstGeom prst="roundRect">
            <a:avLst>
              <a:gd name="adj" fmla="val 18181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03920" y="37033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Facility agreement</a:t>
            </a:r>
          </a:p>
        </p:txBody>
      </p:sp>
      <p:pic>
        <p:nvPicPr>
          <p:cNvPr id="23" name="Picture 22" descr="hel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3867911"/>
            <a:ext cx="274320" cy="274320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6858000" y="4000500"/>
            <a:ext cx="1463040" cy="918972"/>
          </a:xfrm>
          <a:prstGeom prst="line">
            <a:avLst/>
          </a:prstGeom>
          <a:ln w="19050">
            <a:solidFill>
              <a:srgbClr val="C9BFC0"/>
            </a:solidFill>
            <a:prstDash val="dash"/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8321040" y="4617720"/>
            <a:ext cx="3017520" cy="603504"/>
          </a:xfrm>
          <a:prstGeom prst="roundRect">
            <a:avLst>
              <a:gd name="adj" fmla="val 18181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03920" y="46177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[n] more templates</a:t>
            </a:r>
          </a:p>
        </p:txBody>
      </p:sp>
      <p:pic>
        <p:nvPicPr>
          <p:cNvPr id="27" name="Picture 26" descr="hel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4782312"/>
            <a:ext cx="274320" cy="2743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434840" y="5577840"/>
            <a:ext cx="7205472" cy="59436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29" name="Picture 28" descr="aler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5733288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0" y="5577840"/>
            <a:ext cx="6492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F1D24"/>
                </a:solidFill>
                <a:latin typeface="Calibri"/>
              </a:rPr>
              <a:t>Today: open each template and search by hand. Missed templates reach production with outdated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B3262E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2A2B"/>
                </a:solidFill>
                <a:latin typeface="Calibri"/>
              </a:rPr>
              <a:t>Where we are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95354"/>
                </a:solidFill>
                <a:latin typeface="Calibri"/>
              </a:rPr>
              <a:t>What does effortless template configuration look like, and what changes for the business?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6" name="Picture 5" descr="layer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0118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47548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4"/>
                </a:solidFill>
                <a:latin typeface="Calibri"/>
              </a:rPr>
              <a:t>Lens · Business impact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645920"/>
            <a:ext cx="3474720" cy="3474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map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514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03 · THE FUTURE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Self-service configuration, no specialist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F1D24"/>
                </a:solidFill>
                <a:latin typeface="Calibri"/>
              </a:rPr>
              <a:t>Any trained configurer can build, check and change a template without a specialist or a second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C8586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2E"/>
                </a:solidFill>
                <a:latin typeface="Calibri"/>
              </a:rPr>
              <a:t>FUTURE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87451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C8586"/>
                </a:solidFill>
                <a:latin typeface="Calibri"/>
              </a:rPr>
              <a:t>BUSINESS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Save fails with “StartIndex &lt; 0”</a:t>
            </a:r>
          </a:p>
        </p:txBody>
      </p:sp>
      <p:pic>
        <p:nvPicPr>
          <p:cNvPr id="12" name="Picture 11" descr="arrow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41448"/>
            <a:ext cx="237744" cy="2377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46320" y="2240280"/>
            <a:ext cx="4206240" cy="640080"/>
          </a:xfrm>
          <a:prstGeom prst="roundRect">
            <a:avLst>
              <a:gd name="adj" fmla="val 14285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0" y="22402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Error says what, where and how to fix it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233172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shiel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446020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0" y="22402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Risk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26664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02666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Scroll the tag tree folder by folder</a:t>
            </a:r>
          </a:p>
        </p:txBody>
      </p:sp>
      <p:pic>
        <p:nvPicPr>
          <p:cNvPr id="20" name="Picture 19" descr="arrow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227832"/>
            <a:ext cx="237744" cy="23774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846320" y="3026664"/>
            <a:ext cx="4206240" cy="640080"/>
          </a:xfrm>
          <a:prstGeom prst="roundRect">
            <a:avLst>
              <a:gd name="adj" fmla="val 14285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0" y="3026664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Type part of a name, find any tag in seconds</a:t>
            </a:r>
          </a:p>
        </p:txBody>
      </p:sp>
      <p:sp>
        <p:nvSpPr>
          <p:cNvPr id="23" name="Oval 22"/>
          <p:cNvSpPr/>
          <p:nvPr/>
        </p:nvSpPr>
        <p:spPr>
          <a:xfrm>
            <a:off x="9281160" y="3118104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4" name="Picture 23" descr="za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460" y="3232404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75520" y="3026664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Productivity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13048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813048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Open the FSD for every tag</a:t>
            </a:r>
          </a:p>
        </p:txBody>
      </p:sp>
      <p:pic>
        <p:nvPicPr>
          <p:cNvPr id="28" name="Picture 27" descr="arrow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014215"/>
            <a:ext cx="237744" cy="23774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846320" y="3813048"/>
            <a:ext cx="4206240" cy="640080"/>
          </a:xfrm>
          <a:prstGeom prst="roundRect">
            <a:avLst>
              <a:gd name="adj" fmla="val 14285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0" y="3813048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Mapping and logic shown inside the editor</a:t>
            </a:r>
          </a:p>
        </p:txBody>
      </p:sp>
      <p:sp>
        <p:nvSpPr>
          <p:cNvPr id="31" name="Oval 30"/>
          <p:cNvSpPr/>
          <p:nvPr/>
        </p:nvSpPr>
        <p:spPr>
          <a:xfrm>
            <a:off x="9281160" y="3904487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chec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460" y="4018787"/>
            <a:ext cx="2286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875520" y="381304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Efficiency, accuracy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599432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20" y="459943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Guess which templates use a tag</a:t>
            </a:r>
          </a:p>
        </p:txBody>
      </p:sp>
      <p:pic>
        <p:nvPicPr>
          <p:cNvPr id="36" name="Picture 35" descr="arrow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800600"/>
            <a:ext cx="237744" cy="23774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846320" y="4599432"/>
            <a:ext cx="4206240" cy="640080"/>
          </a:xfrm>
          <a:prstGeom prst="roundRect">
            <a:avLst>
              <a:gd name="adj" fmla="val 14285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29200" y="459943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Instant list of every template using it</a:t>
            </a:r>
          </a:p>
        </p:txBody>
      </p:sp>
      <p:sp>
        <p:nvSpPr>
          <p:cNvPr id="39" name="Oval 38"/>
          <p:cNvSpPr/>
          <p:nvPr/>
        </p:nvSpPr>
        <p:spPr>
          <a:xfrm>
            <a:off x="9281160" y="4690872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0" name="Picture 39" descr="char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0" y="4805172"/>
            <a:ext cx="22860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875520" y="45994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Risk reduction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85816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1520" y="538581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Build every template by hand</a:t>
            </a:r>
          </a:p>
        </p:txBody>
      </p:sp>
      <p:pic>
        <p:nvPicPr>
          <p:cNvPr id="44" name="Picture 43" descr="arrow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586984"/>
            <a:ext cx="237744" cy="23774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846320" y="5385816"/>
            <a:ext cx="4206240" cy="640080"/>
          </a:xfrm>
          <a:prstGeom prst="roundRect">
            <a:avLst>
              <a:gd name="adj" fmla="val 14285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029200" y="5385816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AI drafts the template, summary and preview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5477256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8" name="Picture 47" descr="rocke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5460" y="5591556"/>
            <a:ext cx="228600" cy="228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875520" y="5385816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Time to market, CX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B3262E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2A2B"/>
                </a:solidFill>
                <a:latin typeface="Calibri"/>
              </a:rPr>
              <a:t>How we will get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95354"/>
                </a:solidFill>
                <a:latin typeface="Calibri"/>
              </a:rPr>
              <a:t>Five solutions, the value they bring, and the order we deliver them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6" name="Picture 5" descr="layer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0118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47548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4"/>
                </a:solidFill>
                <a:latin typeface="Calibri"/>
              </a:rPr>
              <a:t>Lens · Business value &amp; benefits · Roadmap &amp; prioritisation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645920"/>
            <a:ext cx="3474720" cy="3474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tool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514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04 · HOW WE WILL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Five solutions, each aimed at a pain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37560" cy="221284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8" name="Picture 7" descr="aler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851660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4505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B3262E"/>
                </a:solidFill>
                <a:latin typeface="Calibri"/>
              </a:rPr>
              <a:t>SOLUTION 1 · PAIN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2A2B"/>
                </a:solidFill>
                <a:latin typeface="Calibri"/>
              </a:rPr>
              <a:t>Meaningful error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What went wrong, where, and how to fix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63040"/>
            <a:ext cx="3337560" cy="221284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297680" y="1691640"/>
            <a:ext cx="640080" cy="6400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search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851660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0" y="24505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B3262E"/>
                </a:solidFill>
                <a:latin typeface="Calibri"/>
              </a:rPr>
              <a:t>SOLUTION 2 · PAIN POINT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249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2A2B"/>
                </a:solidFill>
                <a:latin typeface="Calibri"/>
              </a:rPr>
              <a:t>Wildcard tag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9067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Find any tag by partial name in the 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58768"/>
            <a:ext cx="3337560" cy="221284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087368"/>
            <a:ext cx="640080" cy="6400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0" name="Picture 19" descr="inf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59" y="4247388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4632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B3262E"/>
                </a:solidFill>
                <a:latin typeface="Calibri"/>
              </a:rPr>
              <a:t>SOLUTION 3 · PAIN POINT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2A2B"/>
                </a:solidFill>
                <a:latin typeface="Calibri"/>
              </a:rPr>
              <a:t>Built-in tag dictionary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An info icon shows mapping and logic in place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858768"/>
            <a:ext cx="3337560" cy="221284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297680" y="4087368"/>
            <a:ext cx="640080" cy="64008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6" name="Picture 25" descr="databas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4247388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97680" y="484632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B3262E"/>
                </a:solidFill>
                <a:latin typeface="Calibri"/>
              </a:rPr>
              <a:t>SOLUTION 4 · PAIN POINT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2A2B"/>
                </a:solidFill>
                <a:latin typeface="Calibri"/>
              </a:rPr>
              <a:t>Tag usage 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4864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See every template that uses a tag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1463040"/>
            <a:ext cx="3913632" cy="4709160"/>
          </a:xfrm>
          <a:prstGeom prst="roundRect">
            <a:avLst>
              <a:gd name="adj" fmla="val 3504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001000" y="1737360"/>
            <a:ext cx="822960" cy="822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bo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6740" y="194310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0100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5C6C9"/>
                </a:solidFill>
                <a:latin typeface="Calibri"/>
              </a:rPr>
              <a:t>SOLUTION 5 · ALL 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063240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 template builder with live preview</a:t>
            </a:r>
          </a:p>
        </p:txBody>
      </p:sp>
      <p:pic>
        <p:nvPicPr>
          <p:cNvPr id="35" name="Picture 34" descr="uploa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1" y="411480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12480" y="409651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Drop a sample document and prompt</a:t>
            </a:r>
          </a:p>
        </p:txBody>
      </p:sp>
      <p:pic>
        <p:nvPicPr>
          <p:cNvPr id="37" name="Picture 36" descr="archiv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8431" y="4590288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480" y="45720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Get the raw template as a .zip</a:t>
            </a:r>
          </a:p>
        </p:txBody>
      </p:sp>
      <p:pic>
        <p:nvPicPr>
          <p:cNvPr id="39" name="Picture 38" descr="pdf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8431" y="5065776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12480" y="504748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Get a summary PDF, mapping on hover</a:t>
            </a:r>
          </a:p>
        </p:txBody>
      </p:sp>
      <p:pic>
        <p:nvPicPr>
          <p:cNvPr id="41" name="Picture 40" descr="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8431" y="5541264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12480" y="55229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Preview it with sample values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1 · SOLVES PAIN POINT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Error messages that tell users how to fix it</a:t>
            </a:r>
          </a:p>
        </p:txBody>
      </p:sp>
      <p:pic>
        <p:nvPicPr>
          <p:cNvPr id="6" name="Picture 5" descr="x_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201168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212080" cy="310896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shot-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896148"/>
            <a:ext cx="5120640" cy="2974263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pic>
        <p:nvPicPr>
          <p:cNvPr id="11" name="Picture 10" descr="x_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52349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51206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Raw system exception, no cause or location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clipboard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578358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56692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User can’t self-serve, so raises a ticket</a:t>
            </a:r>
          </a:p>
        </p:txBody>
      </p:sp>
      <p:pic>
        <p:nvPicPr>
          <p:cNvPr id="16" name="Picture 15" descr="chec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90472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PROPOSED · ILLUSTRATIVE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5468112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5468112" cy="640080"/>
          </a:xfrm>
          <a:prstGeom prst="roundRect">
            <a:avLst>
              <a:gd name="adj" fmla="val 14285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0" name="Picture 19" descr="aler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002536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828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8F1D24"/>
                </a:solidFill>
                <a:latin typeface="Calibri"/>
              </a:rPr>
              <a:t>Template not saved: 1 issue to fix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651760"/>
            <a:ext cx="411480" cy="411480"/>
          </a:xfrm>
          <a:prstGeom prst="ellipse">
            <a:avLst/>
          </a:prstGeom>
          <a:solidFill>
            <a:srgbClr val="FDF3F3"/>
          </a:solidFill>
          <a:ln w="9525">
            <a:solidFill>
              <a:srgbClr val="FDF3F3"/>
            </a:solidFill>
          </a:ln>
        </p:spPr>
        <p:txBody>
          <a:bodyPr rtlCol="0" anchor="ctr"/>
          <a:lstStyle/>
          <a:p/>
        </p:txBody>
      </p:sp>
      <p:pic>
        <p:nvPicPr>
          <p:cNvPr id="23" name="Picture 22" descr="help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2754629"/>
            <a:ext cx="205740" cy="2057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9440" y="263347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8C8586"/>
                </a:solidFill>
                <a:latin typeface="Calibri"/>
              </a:rPr>
              <a:t>WHAT HAPPENED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85292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alibri"/>
              </a:rPr>
              <a:t>A repeating section is opened but never closed.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429000"/>
            <a:ext cx="411480" cy="411480"/>
          </a:xfrm>
          <a:prstGeom prst="ellipse">
            <a:avLst/>
          </a:prstGeom>
          <a:solidFill>
            <a:srgbClr val="FDF3F3"/>
          </a:solidFill>
          <a:ln w="9525">
            <a:solidFill>
              <a:srgbClr val="FDF3F3"/>
            </a:solidFill>
          </a:ln>
        </p:spPr>
        <p:txBody>
          <a:bodyPr rtlCol="0" anchor="ctr"/>
          <a:lstStyle/>
          <a:p/>
        </p:txBody>
      </p:sp>
      <p:pic>
        <p:nvPicPr>
          <p:cNvPr id="27" name="Picture 26" descr="pin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3670" y="3531870"/>
            <a:ext cx="205740" cy="2057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49440" y="341071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8C8586"/>
                </a:solidFill>
                <a:latin typeface="Calibri"/>
              </a:rPr>
              <a:t>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63016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alibri"/>
              </a:rPr>
              <a:t>Page 2 · tag [ForEachFAC_HT_PRC]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206240"/>
            <a:ext cx="411480" cy="411480"/>
          </a:xfrm>
          <a:prstGeom prst="ellipse">
            <a:avLst/>
          </a:prstGeom>
          <a:solidFill>
            <a:srgbClr val="FDF3F3"/>
          </a:solidFill>
          <a:ln w="9525">
            <a:solidFill>
              <a:srgbClr val="FDF3F3"/>
            </a:solidFill>
          </a:ln>
        </p:spPr>
        <p:txBody>
          <a:bodyPr rtlCol="0" anchor="ctr"/>
          <a:lstStyle/>
          <a:p/>
        </p:txBody>
      </p:sp>
      <p:pic>
        <p:nvPicPr>
          <p:cNvPr id="31" name="Picture 30" descr="tool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670" y="4309109"/>
            <a:ext cx="205740" cy="2057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49440" y="418795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8C8586"/>
                </a:solidFill>
                <a:latin typeface="Calibri"/>
              </a:rPr>
              <a:t>HOW TO 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407407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alibri"/>
              </a:rPr>
              <a:t>Add the matching end tag after the last row of the repeating table, then save again.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074920"/>
            <a:ext cx="1600200" cy="411480"/>
          </a:xfrm>
          <a:prstGeom prst="roundRect">
            <a:avLst>
              <a:gd name="adj" fmla="val 17777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0" y="50749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 to location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5074920"/>
            <a:ext cx="1463040" cy="411480"/>
          </a:xfrm>
          <a:prstGeom prst="roundRect">
            <a:avLst>
              <a:gd name="adj" fmla="val 17777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0" y="50749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2A2B"/>
                </a:solidFill>
                <a:latin typeface="Calibri"/>
              </a:rPr>
              <a:t>Copy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07492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B3262E"/>
                </a:solidFill>
                <a:latin typeface="Calibri"/>
              </a:rPr>
              <a:t>Technical log 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586"/>
                </a:solidFill>
                <a:latin typeface="Calibri"/>
              </a:rPr>
              <a:t>Error code DG-[####] · system detail kept for IT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2 · SOLVES PAIN POINT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Wildcard search finds any tag in seconds</a:t>
            </a:r>
          </a:p>
        </p:txBody>
      </p:sp>
      <p:pic>
        <p:nvPicPr>
          <p:cNvPr id="6" name="Picture 5" descr="x_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201168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108960" cy="434340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shot-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83634"/>
            <a:ext cx="3017520" cy="4233731"/>
          </a:xfrm>
          <a:prstGeom prst="rect">
            <a:avLst/>
          </a:prstGeom>
        </p:spPr>
      </p:pic>
      <p:pic>
        <p:nvPicPr>
          <p:cNvPr id="10" name="Picture 9" descr="chec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1490472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7024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PROPOSED · ILLUSTRATIVE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828800"/>
            <a:ext cx="44348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977639" y="1828800"/>
            <a:ext cx="4434840" cy="384048"/>
          </a:xfrm>
          <a:prstGeom prst="rect">
            <a:avLst/>
          </a:prstGeom>
          <a:solidFill>
            <a:srgbClr val="2E2A2B"/>
          </a:solidFill>
          <a:ln w="9525">
            <a:solidFill>
              <a:srgbClr val="2E2A2B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DocGen Editor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377440"/>
            <a:ext cx="406908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search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47802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0" y="237744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E2A2B"/>
                </a:solidFill>
                <a:latin typeface="Courier New"/>
              </a:rPr>
              <a:t>*Rate*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944368"/>
            <a:ext cx="553212" cy="310896"/>
          </a:xfrm>
          <a:prstGeom prst="roundRect">
            <a:avLst>
              <a:gd name="adj" fmla="val 50000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60520" y="2944368"/>
            <a:ext cx="5532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3459" y="2944368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23459" y="2944368"/>
            <a:ext cx="11750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2A2B"/>
                </a:solidFill>
                <a:latin typeface="Calibri"/>
              </a:rPr>
              <a:t>System tags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8192" y="294436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08192" y="2944368"/>
            <a:ext cx="10195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2A2B"/>
                </a:solidFill>
                <a:latin typeface="Calibri"/>
              </a:rPr>
              <a:t>Data tags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3649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586"/>
                </a:solidFill>
                <a:latin typeface="Calibri"/>
              </a:rPr>
              <a:t>[n] matches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621024"/>
            <a:ext cx="4160520" cy="475488"/>
          </a:xfrm>
          <a:prstGeom prst="roundRect">
            <a:avLst>
              <a:gd name="adj" fmla="val 9615"/>
            </a:avLst>
          </a:prstGeom>
          <a:solidFill>
            <a:srgbClr val="FDF3F3"/>
          </a:solidFill>
          <a:ln w="9525">
            <a:solidFill>
              <a:srgbClr val="FDF3F3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06240" y="365760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ourier New"/>
              </a:rPr>
              <a:t>ExistAdj</a:t>
            </a:r>
            <a:r>
              <a:rPr sz="1300" b="1" i="0">
                <a:solidFill>
                  <a:srgbClr val="B3262E"/>
                </a:solidFill>
                <a:latin typeface="Courier New"/>
              </a:rPr>
              <a:t>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7705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APP › FAC_HT › FAC_HT_PRC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14223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ourier New"/>
              </a:rPr>
              <a:t>ExistFac</a:t>
            </a:r>
            <a:r>
              <a:rPr sz="1300" b="1" i="0">
                <a:solidFill>
                  <a:srgbClr val="B3262E"/>
                </a:solidFill>
                <a:latin typeface="Courier New"/>
              </a:rPr>
              <a:t>Rate</a:t>
            </a:r>
            <a:r>
              <a:rPr sz="1300" b="0" i="0">
                <a:solidFill>
                  <a:srgbClr val="2E2A2B"/>
                </a:solidFill>
                <a:latin typeface="Courier New"/>
              </a:rPr>
              <a:t>IndexCode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6168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APP › FAC_HT › FAC_HT_PRC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626864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ourier New"/>
              </a:rPr>
              <a:t>Effective</a:t>
            </a:r>
            <a:r>
              <a:rPr sz="1300" b="1" i="0">
                <a:solidFill>
                  <a:srgbClr val="B3262E"/>
                </a:solidFill>
                <a:latin typeface="Courier New"/>
              </a:rPr>
              <a:t>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84632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APP › FAC › FAC_PRC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11496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3262E"/>
                </a:solidFill>
                <a:latin typeface="Courier New"/>
              </a:rPr>
              <a:t>Rate</a:t>
            </a:r>
            <a:r>
              <a:rPr sz="1300" b="0" i="0">
                <a:solidFill>
                  <a:srgbClr val="2E2A2B"/>
                </a:solidFill>
                <a:latin typeface="Courier New"/>
              </a:rPr>
              <a:t>IndexNumber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309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APP › FAC › FAC_PRC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59612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E2A2B"/>
                </a:solidFill>
                <a:latin typeface="Courier New"/>
              </a:rPr>
              <a:t>Interest</a:t>
            </a:r>
            <a:r>
              <a:rPr sz="1300" b="1" i="0">
                <a:solidFill>
                  <a:srgbClr val="B3262E"/>
                </a:solidFill>
                <a:latin typeface="Courier New"/>
              </a:rPr>
              <a:t>Rate</a:t>
            </a:r>
            <a:r>
              <a:rPr sz="1300" b="0" i="0">
                <a:solidFill>
                  <a:srgbClr val="2E2A2B"/>
                </a:solidFill>
                <a:latin typeface="Courier New"/>
              </a:rPr>
              <a:t>Tenure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815584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APP › FAC › FAC_PRC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2A2B"/>
                </a:solidFill>
                <a:latin typeface="Calibri"/>
              </a:rPr>
              <a:t>Key features</a:t>
            </a:r>
          </a:p>
        </p:txBody>
      </p:sp>
      <p:sp>
        <p:nvSpPr>
          <p:cNvPr id="37" name="Oval 36"/>
          <p:cNvSpPr/>
          <p:nvPr/>
        </p:nvSpPr>
        <p:spPr>
          <a:xfrm>
            <a:off x="8732520" y="233172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8" name="Picture 37" descr="asterisk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820" y="2446020"/>
            <a:ext cx="2286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326880" y="23317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Wildcards: * any text, ? one character</a:t>
            </a:r>
          </a:p>
        </p:txBody>
      </p:sp>
      <p:sp>
        <p:nvSpPr>
          <p:cNvPr id="40" name="Oval 39"/>
          <p:cNvSpPr/>
          <p:nvPr/>
        </p:nvSpPr>
        <p:spPr>
          <a:xfrm>
            <a:off x="8732520" y="297180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1" name="Picture 40" descr="tree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6820" y="3086100"/>
            <a:ext cx="2286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26880" y="2971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Matches anywhere in the tree</a:t>
            </a:r>
          </a:p>
        </p:txBody>
      </p:sp>
      <p:sp>
        <p:nvSpPr>
          <p:cNvPr id="43" name="Oval 42"/>
          <p:cNvSpPr/>
          <p:nvPr/>
        </p:nvSpPr>
        <p:spPr>
          <a:xfrm>
            <a:off x="8732520" y="3611879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4" name="Picture 43" descr="map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6820" y="3726179"/>
            <a:ext cx="228600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26880" y="361187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Full path shown for every result</a:t>
            </a:r>
          </a:p>
        </p:txBody>
      </p:sp>
      <p:sp>
        <p:nvSpPr>
          <p:cNvPr id="46" name="Oval 45"/>
          <p:cNvSpPr/>
          <p:nvPr/>
        </p:nvSpPr>
        <p:spPr>
          <a:xfrm>
            <a:off x="8732520" y="4251959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7" name="Picture 46" descr="filter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6820" y="4366259"/>
            <a:ext cx="228600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425195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Filter by tag type</a:t>
            </a:r>
          </a:p>
        </p:txBody>
      </p:sp>
      <p:sp>
        <p:nvSpPr>
          <p:cNvPr id="49" name="Oval 48"/>
          <p:cNvSpPr/>
          <p:nvPr/>
        </p:nvSpPr>
        <p:spPr>
          <a:xfrm>
            <a:off x="8732520" y="489204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50" name="Picture 49" descr="pointer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6820" y="5006340"/>
            <a:ext cx="228600" cy="2286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26880" y="48920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Double-click to insert the tag</a:t>
            </a:r>
          </a:p>
        </p:txBody>
      </p:sp>
      <p:sp>
        <p:nvSpPr>
          <p:cNvPr id="52" name="Oval 51"/>
          <p:cNvSpPr/>
          <p:nvPr/>
        </p:nvSpPr>
        <p:spPr>
          <a:xfrm>
            <a:off x="8732520" y="5532120"/>
            <a:ext cx="457200" cy="45720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53" name="Picture 52" descr="star_r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6820" y="5646420"/>
            <a:ext cx="228600" cy="228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26880" y="55321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Recent and favourite tags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3 · SOLVES PAIN 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A built-in tag dictionary, one click away</a:t>
            </a:r>
          </a:p>
        </p:txBody>
      </p:sp>
      <p:pic>
        <p:nvPicPr>
          <p:cNvPr id="6" name="Picture 5" descr="x_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201168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TODAY: TWO WINDOWS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shot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915904"/>
            <a:ext cx="4846320" cy="234039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pic>
        <p:nvPicPr>
          <p:cNvPr id="11" name="Picture 10" descr="book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64058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452628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Switch to Excel for every tag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93208"/>
            <a:ext cx="457200" cy="457200"/>
          </a:xfrm>
          <a:prstGeom prst="ellipse">
            <a:avLst/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refresh_m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5207508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509320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FSD may not match what is deployed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60136"/>
            <a:ext cx="457200" cy="457200"/>
          </a:xfrm>
          <a:prstGeom prst="ellipse">
            <a:avLst/>
          </a:prstGeom>
          <a:solidFill>
            <a:srgbClr val="F4F2F2"/>
          </a:solidFill>
          <a:ln w="9525">
            <a:solidFill>
              <a:srgbClr val="F4F2F2"/>
            </a:solidFill>
          </a:ln>
        </p:spPr>
        <p:txBody>
          <a:bodyPr rtlCol="0" anchor="ctr"/>
          <a:lstStyle/>
          <a:p/>
        </p:txBody>
      </p:sp>
      <p:pic>
        <p:nvPicPr>
          <p:cNvPr id="17" name="Picture 16" descr="list_m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5774436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566013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Logic buried in long condition text</a:t>
            </a:r>
          </a:p>
        </p:txBody>
      </p:sp>
      <p:pic>
        <p:nvPicPr>
          <p:cNvPr id="19" name="Picture 18" descr="check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1490472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4476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PROPOSED · INFO ICON IN THE EDITOR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1828800"/>
            <a:ext cx="2331720" cy="310896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89320" y="19659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C8586"/>
                </a:solidFill>
                <a:latin typeface="Courier New"/>
              </a:rPr>
              <a:t>▾ FAC_PRC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4231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F1D24"/>
                </a:solidFill>
                <a:latin typeface="Courier New"/>
              </a:rPr>
              <a:t>   EIR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8803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F1D24"/>
                </a:solidFill>
                <a:latin typeface="Courier New"/>
              </a:rPr>
              <a:t>   FacPrcTier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300984"/>
            <a:ext cx="2148840" cy="384048"/>
          </a:xfrm>
          <a:prstGeom prst="roundRect">
            <a:avLst>
              <a:gd name="adj" fmla="val 11904"/>
            </a:avLst>
          </a:prstGeom>
          <a:solidFill>
            <a:srgbClr val="FBE4E5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89320" y="33375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2A2B"/>
                </a:solidFill>
                <a:latin typeface="Courier New"/>
              </a:rPr>
              <a:t>   Installment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7947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F1D24"/>
                </a:solidFill>
                <a:latin typeface="Courier New"/>
              </a:rPr>
              <a:t>   RateIndexCode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2519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F1D24"/>
                </a:solidFill>
                <a:latin typeface="Courier New"/>
              </a:rPr>
              <a:t>   Spread</a:t>
            </a:r>
          </a:p>
        </p:txBody>
      </p:sp>
      <p:pic>
        <p:nvPicPr>
          <p:cNvPr id="29" name="Picture 28" descr="info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374136"/>
            <a:ext cx="274320" cy="274320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8065008" y="3511296"/>
            <a:ext cx="365760" cy="0"/>
          </a:xfrm>
          <a:prstGeom prst="line">
            <a:avLst/>
          </a:prstGeom>
          <a:ln w="19050">
            <a:solidFill>
              <a:srgbClr val="B3262E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8458200" y="1828800"/>
            <a:ext cx="3182112" cy="4343400"/>
          </a:xfrm>
          <a:prstGeom prst="roundRect">
            <a:avLst>
              <a:gd name="adj" fmla="val 2873"/>
            </a:avLst>
          </a:prstGeom>
          <a:solidFill>
            <a:srgbClr val="FFFFFF"/>
          </a:solidFill>
          <a:ln w="9525">
            <a:solidFill>
              <a:srgbClr val="F5C6C9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458200" y="1828800"/>
            <a:ext cx="3182112" cy="548640"/>
          </a:xfrm>
          <a:prstGeom prst="roundRect">
            <a:avLst>
              <a:gd name="adj" fmla="val 16666"/>
            </a:avLst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3" name="Picture 32" descr="info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648" y="1965960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79408" y="1828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ourier New"/>
              </a:rPr>
              <a:t>[Installment]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51460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TYPE · 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697480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Normal ·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0175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SCREEN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2004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Facility › Facility Summary › Installment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7033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886200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Installment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41605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LOGIC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34340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Conventional only. Before approval: from Applied. After approval: from Approved.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50749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APPLIES 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5257800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MG, ASNB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5715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3262E"/>
                </a:solidFill>
                <a:latin typeface="Calibri"/>
              </a:rPr>
              <a:t>Used in [n] templates 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51206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586"/>
                </a:solidFill>
                <a:latin typeface="Calibri"/>
              </a:rPr>
              <a:t>Content taken from the current FSD entry for [Installment].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4 · SOLVES PAIN POINT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Search a tag, see every template using it</a:t>
            </a:r>
          </a:p>
        </p:txBody>
      </p:sp>
      <p:pic>
        <p:nvPicPr>
          <p:cNvPr id="6" name="Picture 5" descr="check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201168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PROPOSED SCREEN · SAMPLE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58952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589520" cy="384048"/>
          </a:xfrm>
          <a:prstGeom prst="rect">
            <a:avLst/>
          </a:prstGeom>
          <a:solidFill>
            <a:srgbClr val="2E2A2B"/>
          </a:solidFill>
          <a:ln w="9525">
            <a:solidFill>
              <a:srgbClr val="2E2A2B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 Gen Console  ›  Tag Usage Explorer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95728"/>
            <a:ext cx="557784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12" name="Picture 11" descr="search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9631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2395728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E2A2B"/>
                </a:solidFill>
                <a:latin typeface="Courier New"/>
              </a:rPr>
              <a:t>Installment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395728"/>
            <a:ext cx="1417320" cy="438912"/>
          </a:xfrm>
          <a:prstGeom prst="roundRect">
            <a:avLst>
              <a:gd name="adj" fmla="val 16666"/>
            </a:avLst>
          </a:prstGeom>
          <a:solidFill>
            <a:srgbClr val="F4F2F2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pic>
        <p:nvPicPr>
          <p:cNvPr id="15" name="Picture 14" descr="filter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514600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0" y="239572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E2A2B"/>
                </a:solidFill>
                <a:latin typeface="Calibri"/>
              </a:rPr>
              <a:t>Status: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Found in 5 templates</a:t>
            </a:r>
            <a:r>
              <a:rPr sz="1400" b="0" i="0">
                <a:solidFill>
                  <a:srgbClr val="595354"/>
                </a:solidFill>
                <a:latin typeface="Calibri"/>
              </a:rPr>
              <a:t>  ·  11 occurrences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99232"/>
            <a:ext cx="1737360" cy="402336"/>
          </a:xfrm>
          <a:prstGeom prst="roundRect">
            <a:avLst>
              <a:gd name="adj" fmla="val 18181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pic>
        <p:nvPicPr>
          <p:cNvPr id="19" name="Picture 18" descr="downlo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099816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60" y="299923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Export impact list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77240" y="3566160"/>
          <a:ext cx="7132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2A2B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 marL="91440" marR="91440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2A2B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91440" marR="91440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2A2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anchor="ctr">
                    <a:solidFill>
                      <a:srgbClr val="FBE4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CMTFi Home Property LO Without Redraw SMOS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Home Financing Letter of Offer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Personal Financing-i Letter of Offer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Hire Purchase Agreement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91440" marR="91440" anchor="ctr">
                    <a:solidFill>
                      <a:srgbClr val="FD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Term Financing Facility Agreement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E2A2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458200" y="1463040"/>
            <a:ext cx="3182112" cy="4709160"/>
          </a:xfrm>
          <a:prstGeom prst="roundRect">
            <a:avLst>
              <a:gd name="adj" fmla="val 431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2A2B"/>
                </a:solidFill>
                <a:latin typeface="Calibri"/>
              </a:rPr>
              <a:t>What it enables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228600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25" name="Picture 24" descr="char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0" y="2400300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81160" y="2286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Impact analysis before a change request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0" y="306324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28" name="Picture 27" descr="clipboard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100" y="3177540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81160" y="3063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Exact regression test scope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84048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31" name="Picture 30" descr="trash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3954780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81160" y="38404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Clean-up of unused tags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0" y="461772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34" name="Picture 33" descr="shield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100" y="4732020"/>
            <a:ext cx="228600" cy="228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81160" y="46177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Audit of regulatory fields</a:t>
            </a:r>
          </a:p>
        </p:txBody>
      </p:sp>
      <p:pic>
        <p:nvPicPr>
          <p:cNvPr id="36" name="Picture 35" descr="refresh_m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0" y="5532120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06840" y="546811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586"/>
                </a:solidFill>
                <a:latin typeface="Calibri"/>
              </a:rPr>
              <a:t>Indexed on every upload, so results are always current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5 · BUILDS ON SOLUTIONS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AI template builder: drop, prompt,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1 ·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DF3F3"/>
          </a:solidFill>
          <a:ln w="19050">
            <a:solidFill>
              <a:srgbClr val="E8868C"/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8" name="Picture 7" descr="upload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01168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7432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E2A2B"/>
                </a:solidFill>
                <a:latin typeface="Calibri"/>
              </a:rPr>
              <a:t>Drag and drop a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354"/>
                </a:solidFill>
                <a:latin typeface="Courier New"/>
              </a:rPr>
              <a:t>offer_letter.docx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3017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2" name="Picture 11" descr="cha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872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8C8586"/>
                </a:solidFill>
                <a:latin typeface="Calibr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2A2B"/>
                </a:solidFill>
                <a:latin typeface="Calibri"/>
              </a:rPr>
              <a:t>“Set this up as a home financing offer letter. Map customer, facility and pricing fields.”</a:t>
            </a:r>
          </a:p>
        </p:txBody>
      </p:sp>
      <p:pic>
        <p:nvPicPr>
          <p:cNvPr id="15" name="Picture 14" descr="arr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3749039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2 · AI BUILDS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828800"/>
            <a:ext cx="3520440" cy="4343400"/>
          </a:xfrm>
          <a:prstGeom prst="roundRect">
            <a:avLst>
              <a:gd name="adj" fmla="val 3116"/>
            </a:avLst>
          </a:prstGeom>
          <a:solidFill>
            <a:srgbClr val="B3262E"/>
          </a:solidFill>
          <a:ln w="9525">
            <a:solidFill>
              <a:srgbClr val="B3262E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343400" y="2011680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9" name="Picture 18" descr="bo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1990" y="2160270"/>
            <a:ext cx="297180" cy="2971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74920" y="20116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 template builder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2834640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43400" y="28346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3262E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79806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Detects the variable text in the sample</a:t>
            </a:r>
          </a:p>
        </p:txBody>
      </p:sp>
      <p:sp>
        <p:nvSpPr>
          <p:cNvPr id="24" name="Oval 23"/>
          <p:cNvSpPr/>
          <p:nvPr/>
        </p:nvSpPr>
        <p:spPr>
          <a:xfrm>
            <a:off x="4343400" y="3474720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43400" y="3474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3262E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43814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Matches each item to a tag using the tag dictionary</a:t>
            </a:r>
          </a:p>
        </p:txBody>
      </p:sp>
      <p:sp>
        <p:nvSpPr>
          <p:cNvPr id="27" name="Oval 26"/>
          <p:cNvSpPr/>
          <p:nvPr/>
        </p:nvSpPr>
        <p:spPr>
          <a:xfrm>
            <a:off x="4343400" y="4114800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343400" y="41148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3262E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07822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Adds repeating sections and conditions</a:t>
            </a:r>
          </a:p>
        </p:txBody>
      </p:sp>
      <p:sp>
        <p:nvSpPr>
          <p:cNvPr id="30" name="Oval 29"/>
          <p:cNvSpPr/>
          <p:nvPr/>
        </p:nvSpPr>
        <p:spPr>
          <a:xfrm>
            <a:off x="4343400" y="4754879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343400" y="475487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3262E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718303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Validates against Doc Gen rules</a:t>
            </a:r>
          </a:p>
        </p:txBody>
      </p:sp>
      <p:sp>
        <p:nvSpPr>
          <p:cNvPr id="33" name="Oval 32"/>
          <p:cNvSpPr/>
          <p:nvPr/>
        </p:nvSpPr>
        <p:spPr>
          <a:xfrm>
            <a:off x="4343400" y="5394960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343400" y="5394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3262E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358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Renders a preview with sample values</a:t>
            </a:r>
          </a:p>
        </p:txBody>
      </p:sp>
      <p:pic>
        <p:nvPicPr>
          <p:cNvPr id="36" name="Picture 35" descr="arr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749039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83879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8C8586"/>
                </a:solidFill>
                <a:latin typeface="Calibri"/>
              </a:rPr>
              <a:t>3 · OUTPUTS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1828800"/>
            <a:ext cx="34564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321040" y="1984248"/>
            <a:ext cx="502920" cy="50292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0" name="Picture 39" descr="archiv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69" y="2109978"/>
            <a:ext cx="251460" cy="2514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1120" y="19202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1D24"/>
                </a:solidFill>
                <a:latin typeface="Calibri"/>
              </a:rPr>
              <a:t>File 1 · Raw template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16712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2A2B"/>
                </a:solidFill>
                <a:latin typeface="Courier New"/>
              </a:rPr>
              <a:t>offer_letter_tpl.zip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39572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95354"/>
                </a:solidFill>
                <a:latin typeface="Calibri"/>
              </a:rPr>
              <a:t>Ready to upload to the Doc Gen console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3035808"/>
            <a:ext cx="34564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0" y="3191256"/>
            <a:ext cx="502920" cy="50292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6" name="Picture 45" descr="pdf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769" y="3316986"/>
            <a:ext cx="251460" cy="2514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61120" y="312724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1D24"/>
                </a:solidFill>
                <a:latin typeface="Calibri"/>
              </a:rPr>
              <a:t>File 2 · Summary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374136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2A2B"/>
                </a:solidFill>
                <a:latin typeface="Courier New"/>
              </a:rPr>
              <a:t>offer_letter_summary.pdf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60273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95354"/>
                </a:solidFill>
                <a:latin typeface="Calibri"/>
              </a:rPr>
              <a:t>Same layout as the template; hover a tag to see its screen mapping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4242816"/>
            <a:ext cx="3456432" cy="1078992"/>
          </a:xfrm>
          <a:prstGeom prst="roundRect">
            <a:avLst>
              <a:gd name="adj" fmla="val 10169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321040" y="4398264"/>
            <a:ext cx="502920" cy="50292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52" name="Picture 51" descr="eye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6769" y="4523994"/>
            <a:ext cx="251460" cy="2514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961120" y="4334256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1D24"/>
                </a:solidFill>
                <a:latin typeface="Calibri"/>
              </a:rPr>
              <a:t>Preview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581144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2A2B"/>
                </a:solidFill>
                <a:latin typeface="Courier New"/>
              </a:rPr>
              <a:t>Sample values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80974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95354"/>
                </a:solidFill>
                <a:latin typeface="Calibri"/>
              </a:rPr>
              <a:t>The generated template filled in, before upload</a:t>
            </a:r>
          </a:p>
        </p:txBody>
      </p:sp>
      <p:pic>
        <p:nvPicPr>
          <p:cNvPr id="56" name="Picture 55" descr="usercheck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79" y="5550408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549640" y="546811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2A2B"/>
                </a:solidFill>
                <a:latin typeface="Calibri"/>
              </a:rPr>
              <a:t>Configurer reviews the preview, then uploads the .zip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SOLUTION 5 · WHAT THE USER 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A summary PDF that explains every tag, and a preview</a:t>
            </a:r>
          </a:p>
        </p:txBody>
      </p:sp>
      <p:pic>
        <p:nvPicPr>
          <p:cNvPr id="6" name="Picture 5" descr="pdf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201168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FILE 2 · SUMMARY REPORT (PDF) · HOVER TO SEE MAPPING</a:t>
            </a:r>
          </a:p>
        </p:txBody>
      </p:sp>
      <p:pic>
        <p:nvPicPr>
          <p:cNvPr id="8" name="Picture 7" descr="ey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90472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30568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B3262E"/>
                </a:solidFill>
                <a:latin typeface="Calibri"/>
              </a:rPr>
              <a:t>PREVIEW WITH SAMPLE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102352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LETTER OF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[AccountLevelAddress1]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[AccountLevelCity] [AccountLevelPostcode]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Purpose: </a:t>
            </a:r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[FacilityPurpose]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Profit rate: </a:t>
            </a:r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[RateIndexCode] + [Spread]% p.a.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Tenure: </a:t>
            </a:r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[TotalInstallmentTenure]</a:t>
            </a:r>
            <a:r>
              <a:rPr sz="1300" b="0" i="0">
                <a:solidFill>
                  <a:srgbClr val="595354"/>
                </a:solidFill>
                <a:latin typeface="Calibri"/>
              </a:rPr>
              <a:t>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Monthly instalment: RM </a:t>
            </a:r>
            <a:r>
              <a:rPr sz="1300" b="1" i="0">
                <a:solidFill>
                  <a:srgbClr val="8F1D24"/>
                </a:solidFill>
                <a:highlight>
                  <a:srgbClr val="F5C6C9"/>
                </a:highlight>
                <a:latin typeface="Calibri"/>
              </a:rPr>
              <a:t>[Installment]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828800"/>
            <a:ext cx="5102352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9525">
            <a:solidFill>
              <a:srgbClr val="D9D2D3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03720" y="2103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2A2B"/>
                </a:solidFill>
                <a:latin typeface="Calibri"/>
              </a:rPr>
              <a:t>LETTER OF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No. [__], Jalan [Sample]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Kuala Lumpur 50450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29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Purpose: </a:t>
            </a:r>
            <a:r>
              <a:rPr sz="1300" b="1" i="0">
                <a:solidFill>
                  <a:srgbClr val="2E2A2B"/>
                </a:solidFill>
                <a:latin typeface="Calibri"/>
              </a:rPr>
              <a:t>Purchase of residential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8404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Profit rate: </a:t>
            </a:r>
            <a:r>
              <a:rPr sz="1300" b="1" i="0">
                <a:solidFill>
                  <a:srgbClr val="2E2A2B"/>
                </a:solidFill>
                <a:latin typeface="Calibri"/>
              </a:rPr>
              <a:t>BFR – 2.50% p.a.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251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Tenure: </a:t>
            </a:r>
            <a:r>
              <a:rPr sz="1300" b="1" i="0">
                <a:solidFill>
                  <a:srgbClr val="2E2A2B"/>
                </a:solidFill>
                <a:latin typeface="Calibri"/>
              </a:rPr>
              <a:t>420</a:t>
            </a:r>
            <a:r>
              <a:rPr sz="1300" b="0" i="0">
                <a:solidFill>
                  <a:srgbClr val="595354"/>
                </a:solidFill>
                <a:latin typeface="Calibri"/>
              </a:rPr>
              <a:t>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663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354"/>
                </a:solidFill>
                <a:latin typeface="Calibri"/>
              </a:rPr>
              <a:t>Monthly instalment: RM </a:t>
            </a:r>
            <a:r>
              <a:rPr sz="1300" b="1" i="0">
                <a:solidFill>
                  <a:srgbClr val="2E2A2B"/>
                </a:solidFill>
                <a:latin typeface="Calibri"/>
              </a:rPr>
              <a:t>2,350.00</a:t>
            </a:r>
          </a:p>
        </p:txBody>
      </p:sp>
      <p:pic>
        <p:nvPicPr>
          <p:cNvPr id="26" name="Picture 25" descr="pointer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846320"/>
            <a:ext cx="256032" cy="25603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103120" y="5120640"/>
            <a:ext cx="3566160" cy="960120"/>
          </a:xfrm>
          <a:prstGeom prst="roundRect">
            <a:avLst>
              <a:gd name="adj" fmla="val 9523"/>
            </a:avLst>
          </a:prstGeom>
          <a:solidFill>
            <a:srgbClr val="2E2A2B"/>
          </a:solidFill>
          <a:ln w="9525">
            <a:solidFill>
              <a:srgbClr val="2E2A2B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240280" y="5175504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5C6C9"/>
                </a:solidFill>
                <a:latin typeface="Courier New"/>
              </a:rPr>
              <a:t>[Installment]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Screen: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Facility › Facility Summary › Installment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Field: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Installment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Logic: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Applied before approval, Approved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7607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C8586"/>
                </a:solidFill>
                <a:latin typeface="Calibri"/>
              </a:rPr>
              <a:t>Sample values only; no customer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04 · BUSINESS VALUE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What each solution is worth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8C8586"/>
                </a:solidFill>
                <a:latin typeface="Calibri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8C8586"/>
                </a:solidFill>
                <a:latin typeface="Calibri"/>
              </a:rPr>
              <a:t>VALUE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8C8586"/>
                </a:solidFill>
                <a:latin typeface="Calibri"/>
              </a:rPr>
              <a:t>BENEFIT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1847088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11" name="Picture 10" descr="aler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975104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7373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2A2B"/>
                </a:solidFill>
                <a:latin typeface="Calibri"/>
              </a:rPr>
              <a:t>1 · Error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2024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4"/>
                </a:solidFill>
                <a:latin typeface="Calibri"/>
              </a:rPr>
              <a:t>Risk reduction ·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73736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Users fix errors themselves, fewer tickets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85800" y="2670048"/>
            <a:ext cx="512064" cy="512064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8" name="Picture 17" descr="search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798064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5880" y="25603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2A2B"/>
                </a:solidFill>
                <a:latin typeface="Calibri"/>
              </a:rPr>
              <a:t>2 · Wildcard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4"/>
                </a:solidFill>
                <a:latin typeface="Calibri"/>
              </a:rPr>
              <a:t>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56032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Tags found in seconds, not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5800" y="3493008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25" name="Picture 24" descr="inf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621024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5880" y="3383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2A2B"/>
                </a:solidFill>
                <a:latin typeface="Calibri"/>
              </a:rPr>
              <a:t>3 · Tag dictionary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5661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0" y="3566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4"/>
                </a:solidFill>
                <a:latin typeface="Calibri"/>
              </a:rPr>
              <a:t>Efficiency ·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38328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No FSD switching, fewer mapping errors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85800" y="4315968"/>
            <a:ext cx="512064" cy="512064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databas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443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25880" y="42062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2A2B"/>
                </a:solidFill>
                <a:latin typeface="Calibri"/>
              </a:rPr>
              <a:t>4 · Tag usage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3891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0" y="4389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4"/>
                </a:solidFill>
                <a:latin typeface="Calibri"/>
              </a:rPr>
              <a:t>Risk reduction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20624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Complete impact analysis for every change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85800" y="5138928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pic>
        <p:nvPicPr>
          <p:cNvPr id="39" name="Picture 38" descr="bo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5266944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25880" y="50292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E2A2B"/>
                </a:solidFill>
                <a:latin typeface="Calibri"/>
              </a:rPr>
              <a:t>5 · AI template builder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2120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4"/>
                </a:solidFill>
                <a:latin typeface="Calibri"/>
              </a:rPr>
              <a:t>Time to market ·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02920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95354"/>
                </a:solidFill>
                <a:latin typeface="Calibri"/>
              </a:rPr>
              <a:t>New templates in hours, checked by preview before upload</a:t>
            </a:r>
          </a:p>
        </p:txBody>
      </p:sp>
      <p:pic>
        <p:nvPicPr>
          <p:cNvPr id="44" name="Picture 43" descr="targe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971032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6112" y="591616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Strategic alignment: </a:t>
            </a:r>
            <a:r>
              <a:rPr sz="1300" b="0" i="0">
                <a:solidFill>
                  <a:srgbClr val="595354"/>
                </a:solidFill>
                <a:latin typeface="Calibri"/>
              </a:rPr>
              <a:t>less dependence on specialists, faster product launches, stronger compliance trail.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586"/>
                </a:solidFill>
                <a:latin typeface="Calibri"/>
              </a:rPr>
              <a:t>Doc Gen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C8586"/>
                </a:solidFill>
                <a:latin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3262E"/>
                </a:solidFill>
                <a:latin typeface="Calibri"/>
              </a:rPr>
              <a:t>04 ·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2A2B"/>
                </a:solidFill>
                <a:latin typeface="Calibri"/>
              </a:rPr>
              <a:t>Three phases, each building on the last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08760"/>
            <a:ext cx="3794760" cy="640080"/>
          </a:xfrm>
          <a:prstGeom prst="homePlate">
            <a:avLst/>
          </a:prstGeom>
          <a:solidFill>
            <a:srgbClr val="F5C6C9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4"/>
                </a:solidFill>
                <a:latin typeface="Calibri"/>
              </a:rPr>
              <a:t>Phase 1 · Quick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31520" y="269747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0" name="Picture 9" descr="aler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846070"/>
            <a:ext cx="297180" cy="2971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651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S1 · Error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900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Top 10 errors rewritten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31520" y="402335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15" name="Picture 14" descr="search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171949"/>
            <a:ext cx="297180" cy="297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97763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S2 · Wildcard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159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Search box in DocGen 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3474720" cy="777240"/>
          </a:xfrm>
          <a:prstGeom prst="roundRect">
            <a:avLst>
              <a:gd name="adj" fmla="val 14117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19" name="Picture 18" descr="fla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58968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8719" y="52120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MILESTONE</a:t>
            </a:r>
          </a:p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Users self-fix common errors</a:t>
            </a:r>
          </a:p>
        </p:txBody>
      </p:sp>
      <p:sp>
        <p:nvSpPr>
          <p:cNvPr id="21" name="Chevron 20"/>
          <p:cNvSpPr/>
          <p:nvPr/>
        </p:nvSpPr>
        <p:spPr>
          <a:xfrm>
            <a:off x="4279392" y="1508760"/>
            <a:ext cx="3794760" cy="640080"/>
          </a:xfrm>
          <a:prstGeom prst="chevron">
            <a:avLst/>
          </a:prstGeom>
          <a:solidFill>
            <a:srgbClr val="C9434B"/>
          </a:solidFill>
          <a:ln w="9525">
            <a:solidFill>
              <a:srgbClr val="C9434B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36592" y="15087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2 · Foundation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24231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599432" y="269747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25" name="Picture 24" descr="info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22" y="2846070"/>
            <a:ext cx="297180" cy="2971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30952" y="2651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S3 · Tag dictionary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9900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FSD turned into structured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749039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599432" y="402335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30" name="Picture 29" descr="databas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8022" y="4171949"/>
            <a:ext cx="297180" cy="2971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0952" y="397763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S4 · Tag usage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43159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Templates indexed on upload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5212080"/>
            <a:ext cx="3474720" cy="777240"/>
          </a:xfrm>
          <a:prstGeom prst="roundRect">
            <a:avLst>
              <a:gd name="adj" fmla="val 14117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34" name="Picture 33" descr="fla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5458968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56632" y="52120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MILESTONE</a:t>
            </a:r>
          </a:p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No more FSD look-ups</a:t>
            </a:r>
          </a:p>
        </p:txBody>
      </p:sp>
      <p:sp>
        <p:nvSpPr>
          <p:cNvPr id="36" name="Chevron 35"/>
          <p:cNvSpPr/>
          <p:nvPr/>
        </p:nvSpPr>
        <p:spPr>
          <a:xfrm>
            <a:off x="8010144" y="1508760"/>
            <a:ext cx="3794760" cy="640080"/>
          </a:xfrm>
          <a:prstGeom prst="chevron">
            <a:avLst/>
          </a:prstGeom>
          <a:solidFill>
            <a:srgbClr val="B3262E"/>
          </a:solidFill>
          <a:ln w="9525">
            <a:solidFill>
              <a:srgbClr val="B3262E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67344" y="15087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3 · Intelligence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7304" y="24231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330183" y="269747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0" name="Picture 39" descr="bo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774" y="2846070"/>
            <a:ext cx="297180" cy="2971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61704" y="2651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S5 · AI template builder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29900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.zip template and summary PDF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47304" y="3749039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9DFE0"/>
            </a:solidFill>
          </a:ln>
          <a:effectLst>
            <a:outerShdw blurRad="101600" dist="254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330183" y="4023359"/>
            <a:ext cx="594360" cy="594360"/>
          </a:xfrm>
          <a:prstGeom prst="ellipse">
            <a:avLst/>
          </a:prstGeom>
          <a:solidFill>
            <a:srgbClr val="FBE4E5"/>
          </a:solidFill>
          <a:ln w="9525">
            <a:solidFill>
              <a:srgbClr val="FBE4E5"/>
            </a:solidFill>
          </a:ln>
        </p:spPr>
        <p:txBody>
          <a:bodyPr rtlCol="0" anchor="ctr"/>
          <a:lstStyle/>
          <a:p/>
        </p:txBody>
      </p:sp>
      <p:pic>
        <p:nvPicPr>
          <p:cNvPr id="45" name="Picture 44" descr="eye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8774" y="4171949"/>
            <a:ext cx="297180" cy="2971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61704" y="397763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2A2B"/>
                </a:solidFill>
                <a:latin typeface="Calibri"/>
              </a:rPr>
              <a:t>S5 · Sample-value preview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43159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95354"/>
                </a:solidFill>
                <a:latin typeface="Calibri"/>
              </a:rPr>
              <a:t>Check the generated template first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47304" y="5212080"/>
            <a:ext cx="3474720" cy="777240"/>
          </a:xfrm>
          <a:prstGeom prst="roundRect">
            <a:avLst>
              <a:gd name="adj" fmla="val 14117"/>
            </a:avLst>
          </a:prstGeom>
          <a:solidFill>
            <a:srgbClr val="FDF3F3"/>
          </a:solidFill>
          <a:ln w="9525">
            <a:solidFill>
              <a:srgbClr val="F5C6C9"/>
            </a:solidFill>
          </a:ln>
        </p:spPr>
        <p:txBody>
          <a:bodyPr rtlCol="0" anchor="ctr"/>
          <a:lstStyle/>
          <a:p/>
        </p:txBody>
      </p:sp>
      <p:pic>
        <p:nvPicPr>
          <p:cNvPr id="49" name="Picture 48" descr="fla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5458968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787384" y="52120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8C8586"/>
                </a:solidFill>
                <a:latin typeface="Calibri"/>
              </a:rPr>
              <a:t>MILESTONE</a:t>
            </a:r>
          </a:p>
          <a:p>
            <a:pPr algn="l"/>
            <a:r>
              <a:rPr sz="1300" b="1" i="0">
                <a:solidFill>
                  <a:srgbClr val="2E2A2B"/>
                </a:solidFill>
                <a:latin typeface="Calibri"/>
              </a:rPr>
              <a:t>First AI-built template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 Gen Innovation Roadmap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